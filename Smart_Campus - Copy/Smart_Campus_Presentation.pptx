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SMART CAMPUS</a:t>
            </a:r>
          </a:p>
          <a:p>
            <a:pPr>
              <a:spcBef>
                <a:spcPts val="10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AI-Driven Campus ERP, Placement Readiness &amp; ATS Resume Analytics Platform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A Comprehensive Machine Learning &amp; Full-Stack System for Higher Education Institutions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2468880" cy="14630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ML Placement Engine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  <a:latin typeface="Segoe UI"/>
              </a:defRPr>
            </a:pPr>
            <a:r>
              <a:t>Random Forest (76.3% Acc)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468880" cy="14630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4800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NLP ATS Resume Parser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  <a:latin typeface="Segoe UI"/>
              </a:defRPr>
            </a:pPr>
            <a:r>
              <a:t>TF-IDF &amp; Cosine Similarity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4663440"/>
            <a:ext cx="2468880" cy="14630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4800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Academic ERP Hub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  <a:latin typeface="Segoe UI"/>
              </a:defRPr>
            </a:pPr>
            <a:r>
              <a:t>Live Timetable &amp; Attendance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4663440"/>
            <a:ext cx="2468880" cy="14630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4800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Corporate Placement Portal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  <a:latin typeface="Segoe UI"/>
              </a:defRPr>
            </a:pPr>
            <a:r>
              <a:t>Job Drives &amp; Application 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 &amp; Core Project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816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ACADEMIC OPERATIONAL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Integrated Academic ERP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Consolidates daily college administration into a unified portal. Provides a real-time weekly schedule, class status indicators, subject-wise attendance thresholds, course catalogs, and faculty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1691640"/>
            <a:ext cx="2816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PREDICTIVE CAREER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214884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Machine Learning Placement Engine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Leverages a Random Forest Classifier trained on 15,000 engineering student records. Evaluates 8 key predictive dimensions (DSA, CGPA, Communication, etc.) and provides instant tailored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691640"/>
            <a:ext cx="2816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NLP-DRIVEN EMPLOYABILITY 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48840"/>
            <a:ext cx="2816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Intelligent ATS Resume Analyzer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Parses PDF/DOCX resumes using PyPDF2 &amp; python-docx. Extracts 80+ technical and soft skills, measures cosine similarity against job descriptions, and gives actionable feedback to maximize shortlisting.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02. RESEARCH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Industry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 Fragmented Campus ERPs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Existing collegiate software tools isolate attendance and marks into static silos. They offer zero correlation between daily student performance and eventual campus recruitment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 Late Detection of Career Deficiencies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Students typically realize their lack of coding proficiency (DSA), low aptitude scores, or communication deficits during 7th/8th semester drives when remedial action is nearly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40"/>
            <a:ext cx="512064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 High Rejection Rates at Initial ATS Screening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Over 75% of engineering resumes are screened out before human review due to missing keywords, non-standard formatting, and misalignment with industry job descriptions.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77640"/>
            <a:ext cx="512064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❌  Administrative Placement Overhead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Placement cells spend hundreds of hours manually verifying CGPA eligibility criteria, emailing drive updates, tracking interview pipelines, and managing recruiter logistics.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03.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Objectives &amp; Technical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5912" cy="841248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27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Unified Academic Management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Provide seamless student attendance tracking, dynamic weekly scheduling with active-class detection, and academic profile transparency.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725912" cy="841248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87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Predictive Placement Analytics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Implement machine learning classification to forecast student placement probability with actionable guidance across 8 critical skill dimensions.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10725912" cy="841248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44728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Intelligent ATS Resume Optimization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Empower students to evaluate resumes against corporate job descriptions using TF-IDF vectorization, cosine similarity, and skill extraction.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725912" cy="841248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40740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End-to-End Placement Recruitment ATS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Facilitate corporate job listings, automated CGPA eligibility screening, student job applications, and transparent status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10725912" cy="841248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GOAL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675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Data-Driven Placement Cell Dashboard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Provide institutional administrators with high-level KPIs, branch-wise statistics, and tools to manage drives and candidate statuses.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04.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 &amp; Layered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Layer 1: Presentation &amp; UI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Responsive HTML5 &amp; Modern Vanilla CSS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Custom Glassmorphic Dark UI &amp; CSS Grid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Interactive JavaScript Timetable &amp; Tabs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Chart.js Interactive Analytics 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Layer 2: Application &amp; Controllers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Python Flask Framework (RESTful Endpoints)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Session-Based Role Authentication (RBAC)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Secure File Ingestion (PyPDF2, python-docx)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Business Logic &amp; Application Status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Layer 3: AI &amp; Machine Learning Core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Random Forest Classifier (placement_model.pkl)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Real-time 8-Dimensional Feature Inference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Scikit-Learn TF-IDF Vectorizer &amp; Cosine Metric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Heuristic Rule-Based Recommendation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Layer 4: Data &amp; Persistence Layer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SQLite Relational Database (smart_campus.db)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15,000 Records Benchmark Dataset (CSV)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Entity Tables: students, companies, apps, admins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• Secure Server-side Resumes Directory (/uploads)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05.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Comprehensive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Backend &amp; Web Framework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Python 3.10+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Core backend execution language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Flask Framework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Lightweight, robust WSGI web server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Werkzeug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Secure file handling and utility helpers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Jinja2 Engine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Dynamic server-side HTML template rendering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Machine Learning &amp; Data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Scikit-Learn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RandomForestClassifier, metrics, TF-IDF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Pandas &amp; NumPy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Dataframe manipulation &amp; matrix math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Joblib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Fast binary model serialization (.pkl)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Matplotlib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Analytical charts &amp; visual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NLP &amp; Text Processing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PyPDF2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Fast programmatic PDF text extraction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python-docx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Microsoft Word (.docx) document parsing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Cosine Similarity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Vectorized textual semantic alignment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RegEx Catalogs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Curated technical &amp; soft skill matchers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Frontend &amp; Persistence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Vanilla CSS3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Ultra-responsive flexbox &amp; CSS grid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Modern JavaScript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Asynchronous fetch API &amp; live DOM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SQLite3 Database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Embedded zero-config relational store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Font Awesome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Intuitive visual icons &amp; UI cues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06.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Student ERP &amp; Daily Academic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📅 Dynamic Timetable Engine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Displays weekly schedules from Monday through Friday with exact class time slots, room numbers, lecture types, and assigned professors. Features live class status indicators and RESTful API (/api/timetable/&lt;day&gt;).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📊 Subject-Wise Attendance Tracker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Tracks real-time attendance across 11 accredited engineering subjects. Computes classes attended versus total conducted sessions. Provides visual progress bars and warning indicators when falling below the mandatory 75% cutoff.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👨‍🏫 Faculty Directory &amp; Course Hub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Presents a complete registry of departmental professors, specialized course codes (e.g., BCS501, BCS504, BCS506), syllabus links, and behavioral/open elective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👤 Comprehensive Student Profile Ledger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Maintains complete student master data including Enrollment ID, Semester, Program, CGPA, Aptitude/Coding scores, Fee clearance ledger, and state/college tier categorization.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07. AI/ML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Machine Learning Placement Prediction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Random Forest Classification Model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Ensemble Architecture: 100 decision trees (n_estimators=100) with max_depth=12 to prevent overfitting.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Input Vector: 8 quantitative parameters encompassing academic, technical, problem-solving, and interpersonal facets.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Class Probabilities: Generates calibrated percentage probability of placement via predict_proba().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Explainable AI Advice: Dynamic rule engine evaluates student input against benchmarks to produce targeted improvement recommendations.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Model Persistence: Serialized into placement_model.pkl for microsecond server-side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8 Predictive Feature Dimensions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DSA Problems Solved: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Total coding questions completed on LeetCode/GFG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CGPA (Cumulative GPA):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Overall academic score index (scale 0 - 10)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Communication Score: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Verbal &amp; written score for HR rounds (0 - 100)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Attendance Percentage: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Regularity &amp; institutional discipline (0 - 100%)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Aptitude Score: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Quantitative, logical, and verbal screening test (0 - 100)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6. Internships Count: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Practical industry internship experience (0 - 4+)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7. Projects Count: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Verified full-stack/AI software capstones (0 - 5+)</a:t>
            </a:r>
          </a:p>
          <a:p>
            <a:pPr>
              <a:spcBef>
                <a:spcPts val="4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8. Certifications Count: 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   Industry-recognized technical credentials (0 - 6+)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08. 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Dataset Analysis &amp; Training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4572000" cy="381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Model Evaluation Breakdown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Benchmark Dataset: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Indian Engineering Placement Dataset 2026 (15,000 records)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Data Partitioning: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80% Training (12,000) : 20% Testing (3,000 records)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Training Accuracy: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89.43% across all classes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Test Accuracy: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76.27% on unseen student test records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Placed Class Precision: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79.49% (High confidence on positive predictions)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Placed Class Recall: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85.67% (Identifies 1,674 of 1,954 placed candidates)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• Placed Class F1-Score: 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   82.46% (Strong harmonic balance)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09. ML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Feature Importance &amp; Key Placement Drivers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76656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355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463040"/>
            <a:ext cx="365760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6916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Critical Takeaways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1. DSA is King (34.1%): Solving Data Structures &amp; Algorithm problems is by far the single biggest driver of campus placement.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2. CGPA is the Filter (16.0%): Academic grades serve as the primary cutoff threshold for company shortlisting.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3. Soft Skills Matter (11.2%): Strong communication distinguishes technically proficient students in HR interviews.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4. Consistency Counts: Attendance (9.7%) and Aptitude (9.2%) reflect student commitment and cognitive problem solving.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10. NLP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Intelligent ATS Resume Analyzer (NLP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Multi-Format Document Parser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Extracts clean text from PDF (PyPDF2) and DOCX (python-docx).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Sanitizes formatting, normalizes casing, and handles multi-page layouts.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Auto-associates uploaded files with student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Curated Skill Catalog Engine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Tech Catalog: 64+ languages, frameworks, AI/ML tools, and databases.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Soft Skills: 16+ behavioral traits (Leadership, Teamwork, etc.).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Action Verbs: 21+ impactful verbs (Architected, Spearheaded, Optimized).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TF-IDF &amp; Cosine Alignment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Computes n-gram TF-IDF vector embeddings for resume and job description.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Calculates mathematical cosine similarity metric (0% to 100%).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Provides high-precision relevance scores across multiple company profiles.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91640"/>
            <a:ext cx="215798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Automated Gap &amp; ATS Scoring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Composite ATS Index: Weighted score of Skills (50%), Similarity (30%), Formatting (10%), and Action Verbs (10%).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Actionable feedback: Lists critical missing keywords needed for recruiter shortlisting.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11. ATS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Campus Recruitment &amp; Application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🏢 Active Corporate Recruitment Drives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Students explore active on-campus hiring drives from leading firms (e.g., TCS, Infosys, Microsoft, Capgemini, Accenture, Cognizant) with detailed role requirements, CTC packages (up to 18 LPA), locations, and deadlines.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614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🛡️ Automated CGPA Cutoff Validation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System programmatically verifies the candidate's CGPA against the company's minimum threshold (e.g., 8.5 for Microsoft, 7.5 for Infosys). Ineligible applicants are prevented from applying, eliminating screening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⚡ 1-Click Application Pipeline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Eligible students submit applications with a single click. The backend registers the timestamped record in the applications table, preventing duplicate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5912" cy="1051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📋 Live Status Lifecycle Tracking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Applicants track real-time hiring progress across multiple stages: 'Applied' ➔ 'Shortlisted' ➔ 'Interview' ➔ 'Selected / Placed', accompanied by official coordinator notes.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12.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Placement Officer (TPO)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579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Segoe UI"/>
              </a:defRPr>
            </a:pPr>
            <a:r>
              <a:t>15,000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Total Registered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23744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00200"/>
            <a:ext cx="21579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Segoe UI"/>
              </a:defRPr>
            </a:pPr>
            <a:r>
              <a:t>9,780+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Total Placed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23744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00200"/>
            <a:ext cx="21579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A855F7"/>
                </a:solidFill>
                <a:latin typeface="Segoe UI"/>
              </a:defRPr>
            </a:pPr>
            <a:r>
              <a:t>8.45 LPA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Average Placed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23744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00200"/>
            <a:ext cx="215798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Segoe UI"/>
              </a:defRPr>
            </a:pPr>
            <a:r>
              <a:t>18.0 LPA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Highest On-Campus Package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32918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Administrative Features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Dynamic Drive Management: Post new recruitment drives with criteria, package, location, and deadlines.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Candidate Status Workflow: Seamlessly promote student applications from Applied to Interview or Placed.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Automated Status Sync: Marking a candidate 'Placed' instantly updates the student master database.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Multi-Dimensional Filtering: Filter thousands of students by Branch, Placement Status, or search by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26080"/>
            <a:ext cx="5120640" cy="32918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Departmental Analytics &amp; Reporting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Branch-Wise Performance: Real-time placement rates across CSE, IT, ECE, Mechanical, and Civil engineering.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Package Dispersion: Average and median package tracking per academic department.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Interactive Dataset Explorer: Live search &amp; review of all 15,000 engineering student benchmark records.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Zero Latency: Optimized SQLite index queries guarantee instantaneous dashboard rendering.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13. DATA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Database Architecture &amp; Entity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TABLE: students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student_id (PK)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TEXT PRIMARY KEY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name, password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Authentication &amp; profile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course, semester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Degree &amp; academic standing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attendance, cgpa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Academic metrics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aptitude_score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Quantitative capability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coding_score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DSA problems solved proxy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projects, internships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Practical experience counts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skills, branch, state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Demographics &amp; tech stack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placement_status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Placed / Not Placed status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package_lpa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Secured CTC compensation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48456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TABLE: companies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id (PK)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INTEGER AUTOINCREMENT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name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Corporate recruiter name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role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Designation (e.g., SWE)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package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CTC string (e.g. 9.5 LPA)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min_cgpa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Eligibility cutoff filter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required_skills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Target tech requirements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location, deadline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Drive logistical details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openings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Number of available seats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A855F7"/>
                </a:solidFill>
                <a:latin typeface="Segoe UI"/>
              </a:defRPr>
            </a:pPr>
            <a:r>
              <a:t>TABLE: applications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id (PK)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INTEGER AUTOINCREMENT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student_id (FK)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Links to students table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company_id (FK)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Links to companies table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status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Applied / Shortlist / Placed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applied_date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ISO application timestamp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notes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Recruiter feedback &amp; remarks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UNIQUE KEY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Prevents duplicate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23744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645920"/>
            <a:ext cx="21579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TABLE: admins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id (PK)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INTEGER AUTOINCREMENT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username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Admin login handle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password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Authentication credential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name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Full administrative name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role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TPO / Placement Head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• email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   Official communication mail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14.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Comparative Value &amp; Institutional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077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🎓 For Students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Early Predictive Diagnosis: Discover skill deficiencies in 3rd/4th year rather than during final semester drives.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Personalized Roadmaps: Receive clear, quantitative guidance on CGPA, DSA problem targets, and project requirements.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ATS Resume Optimization: Maximize resume shortlist rates with instantaneous keyword and cosine semantic matching.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Frictionless Campus Drives: Apply to multiple hiring opportunities with verified eligibility in a single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1691640"/>
            <a:ext cx="29077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🏛️ For Placement Cell (TPO)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80% Reduction in Administrative Overhead: Automated CGPA validation eliminates manual verification of spreadsheets.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Real-Time Hiring Pipelines: Instantly monitor student application lifecycles from application to final offer.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Drive Posting &amp; Communication: Broadcast corporate drives with clear criteria and manage interview slots seamlessly.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Institutional Placement Analytics: Generate departmental reports and benchmark student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463040"/>
            <a:ext cx="3364992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1691640"/>
            <a:ext cx="29077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A855F7"/>
                </a:solidFill>
                <a:latin typeface="Segoe UI"/>
              </a:defRPr>
            </a:pPr>
            <a:r>
              <a:t>💼 For Corporate Recruiters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Pre-Vetted Candidate Funnel: Guaranteed eligibility compliance based on real university grades and metrics.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Standardized ATS Profiles: Structured resumes parsed with clear skill taxonomies and action verb ratings.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Accelerated Hiring Turnaround: Conduct campus drives faster with structured student evaluation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15.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Future Enhancements &amp; Concluding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Future Project Roadmap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1. LLM-Powered AI Mock Interviewer: Integrate conversational AI with speech-to-text to simulate HR and technical interviews.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2. Automated Offer Letter OCR &amp; Verification: Verify recruiter compensation CTC breakup and authentic employment offers.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3. Native Mobile Application: Develop cross-platform Flutter/React Native mobile app with real-time push notifications.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4. WhatsApp / SMS Notification Gateway: Instant interview alerts and reminder triggers for scheduled drive rounds.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• 5. Deep Learning Recommendation Engine: Personalized course &amp; LeetCode problem recommendations based on target company.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Concluding Takeaway</a:t>
            </a:r>
          </a:p>
          <a:p>
            <a:pPr>
              <a:spcAft>
                <a:spcPts val="18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Smart Campus bridges the critical divide between collegiate academic management and student career readiness. By combining high-accuracy Machine Learning (Random Forest 76.3%), NLP Resume Intelligence (TF-IDF &amp; Cosine Similarity), and an end-to-end recruitment tracking portal, the platform transforms static universities into intelligent career hubs.</a:t>
            </a:r>
          </a:p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